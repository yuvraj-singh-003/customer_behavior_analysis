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4630400" cy="8229600"/>
  <p:notesSz cx="8229600" cy="14630400"/>
  <p:embeddedFontLst>
    <p:embeddedFont>
      <p:font typeface="Kanit Light" panose="020B0604020202020204" charset="-34"/>
      <p:regular r:id="rId15"/>
    </p:embeddedFont>
    <p:embeddedFont>
      <p:font typeface="Martel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63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86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417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2359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062883"/>
            <a:ext cx="95042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793790" y="41118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Analyzing 3,900 purchases to uncover actionable insights on spending habits, customer segments, and product preferences for data-driven business strategies.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0927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7108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3288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92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0153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28333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32374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Transactions analyzed across diverse product categories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180153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28333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Dimensions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332374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Features covering demographics, products, and transactions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180153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$59.76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28333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Average Purchase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3323749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Mean transaction value in USD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93493" y="534233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44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8893493" y="637413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Average Age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93493" y="686454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Mean customer age across all segments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224DD1-C2AB-C431-427B-3FEAC5EE5734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63598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Preparation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Quality Check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Identified 37 missing values in Review Rating column requiring attention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Cleaning &amp; Imputation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Filled missing ratings with category-specific medians to preserve data integrity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Created age groups and numeric purchase frequency mappings for deeper analysis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Database Publishing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Exported cleaned dataset to MySQL for advanced business intelligence queries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253234-98A2-B905-35E0-E2FE93B5C71E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1820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D302C"/>
          </a:solidFill>
          <a:ln/>
        </p:spPr>
      </p:sp>
      <p:sp>
        <p:nvSpPr>
          <p:cNvPr id="5" name="Text 2"/>
          <p:cNvSpPr/>
          <p:nvPr/>
        </p:nvSpPr>
        <p:spPr>
          <a:xfrm>
            <a:off x="4005977" y="6541651"/>
            <a:ext cx="5137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61A092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697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460545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Male Customers Drive Revenue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8959096" y="3133844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Male buyers contribute more than double the revenue compared to female buyers, generating $157,890 versus $75,191.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959096" y="4426625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significant gap presents opportunities for targeted marketing strategies.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F1365-EA12-C52E-4133-10F49BC070CD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3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5920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6544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4258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62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65331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rating: 3.86 out of 5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95920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56544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4258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162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65331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rating: 3.84 out of 5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95920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56544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4258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162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65331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rating: 3.82 out of 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4840486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4810006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450032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467046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407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589788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rating: 3.80 out of 5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4840486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4810006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450032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467046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407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589788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rating: 3.78 out of 5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93790" y="6773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satisfaction is highest in footwear and accessories categories, demonstrating strong product appeal.</a:t>
            </a:r>
            <a:endParaRPr lang="en-US" sz="17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942635-F15A-E42D-89EF-DF180C272EBB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9002"/>
            <a:ext cx="7666315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Segmentation Insights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532573" y="2969062"/>
            <a:ext cx="2631519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80%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846" y="1631871"/>
            <a:ext cx="3209211" cy="32092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1260" y="5108377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 Customers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48784" y="5570934"/>
            <a:ext cx="419933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3,116 customers with 10+ purchases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999321" y="2969062"/>
            <a:ext cx="2631519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18%</a:t>
            </a:r>
            <a:endParaRPr lang="en-US" sz="4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595" y="1631871"/>
            <a:ext cx="3209211" cy="32092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8009" y="5108377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Returning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215533" y="5570934"/>
            <a:ext cx="419933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701 customers with 2-10 purchases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466070" y="2969062"/>
            <a:ext cx="2631519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2%</a:t>
            </a:r>
            <a:endParaRPr lang="en-US" sz="4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343" y="1631871"/>
            <a:ext cx="3209211" cy="32092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44758" y="5108377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New Customers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9682282" y="5570934"/>
            <a:ext cx="419933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83 customers with 1 purchase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48784" y="6234113"/>
            <a:ext cx="3581638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Strong Retention Success</a:t>
            </a:r>
            <a:endParaRPr lang="en-US" sz="2500" dirty="0"/>
          </a:p>
        </p:txBody>
      </p:sp>
      <p:sp>
        <p:nvSpPr>
          <p:cNvPr id="16" name="Text 11"/>
          <p:cNvSpPr/>
          <p:nvPr/>
        </p:nvSpPr>
        <p:spPr>
          <a:xfrm>
            <a:off x="748784" y="6955988"/>
            <a:ext cx="13132832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large proportion of loyal customers indicates excellent retention and positive customer experience. Focus should shift to converting returning customers into loyal advocates.</a:t>
            </a:r>
            <a:endParaRPr lang="en-US" sz="16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148CBD-94C9-6B37-4863-7ABBB08DBBE3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736283"/>
            <a:ext cx="6955393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Subscription Performance Gap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7829" y="3922514"/>
            <a:ext cx="13174742" cy="22860"/>
          </a:xfrm>
          <a:prstGeom prst="roundRect">
            <a:avLst>
              <a:gd name="adj" fmla="val 382074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727829" y="1802011"/>
            <a:ext cx="6457355" cy="2120503"/>
          </a:xfrm>
          <a:prstGeom prst="roundRect">
            <a:avLst>
              <a:gd name="adj" fmla="val 411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6761" y="2017514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Subscribed Customers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43332" y="2466975"/>
            <a:ext cx="602634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spend: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$59.49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3332" y="2924413"/>
            <a:ext cx="602634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revenue: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$62,645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3332" y="3381851"/>
            <a:ext cx="602634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Among repeat buyers (5+ purchases):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958 subscribed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45097" y="3945374"/>
            <a:ext cx="6457474" cy="2120503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0" name="Text 8"/>
          <p:cNvSpPr/>
          <p:nvPr/>
        </p:nvSpPr>
        <p:spPr>
          <a:xfrm>
            <a:off x="9248061" y="4153257"/>
            <a:ext cx="285154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Unsubscribed Customers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60600" y="4602718"/>
            <a:ext cx="602646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spend: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$59.87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60600" y="5060156"/>
            <a:ext cx="602646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revenue: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$170,436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60600" y="5517594"/>
            <a:ext cx="602646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Among repeat buyers (5+ purchases):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2,518 unsubscribed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7829" y="6276856"/>
            <a:ext cx="13174742" cy="1216343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12" y="6568083"/>
            <a:ext cx="259913" cy="20788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03509" y="6536650"/>
            <a:ext cx="12291179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Finding:</a:t>
            </a:r>
            <a:r>
              <a:rPr lang="en-US" sz="16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Unsubscribed customers spend more and generate higher total sales. The subscription program is not effectively influencing spending behavior and needs enhancement.</a:t>
            </a: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17103F-55A3-0197-C56A-6F80FEC9176A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34102"/>
            <a:ext cx="3946922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by Age Group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243013"/>
            <a:ext cx="10420350" cy="58353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7549898"/>
            <a:ext cx="1352550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Young adults are the largest revenue contributors at $62,143, forming the core customer base and primary driver of sales performance.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61BE6-9A43-E8D1-E0E1-DAAFB519BD2A}"/>
              </a:ext>
            </a:extLst>
          </p:cNvPr>
          <p:cNvSpPr/>
          <p:nvPr/>
        </p:nvSpPr>
        <p:spPr>
          <a:xfrm>
            <a:off x="10058400" y="6844007"/>
            <a:ext cx="1828800" cy="5500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1728C-DEC9-316B-769D-C96FD04FDA8A}"/>
              </a:ext>
            </a:extLst>
          </p:cNvPr>
          <p:cNvSpPr txBox="1"/>
          <p:nvPr/>
        </p:nvSpPr>
        <p:spPr>
          <a:xfrm>
            <a:off x="10298151" y="6787004"/>
            <a:ext cx="134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6B4AE"/>
                </a:solidFill>
              </a:rPr>
              <a:t> </a:t>
            </a:r>
            <a:r>
              <a:rPr lang="en-US" dirty="0">
                <a:solidFill>
                  <a:srgbClr val="5B5B56"/>
                </a:solidFill>
              </a:rPr>
              <a:t>$75,000.00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1897F-16D9-8B2D-D5C3-B197134C3B74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Highlights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01221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3271242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008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49889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4,000 customers with $59.76 average purchase value and 3.75 review rating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101221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3271242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3776" y="4008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Category Leadership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43776" y="449889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Clothing leads in both customer engagement and revenue, followed by accessories and footwear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101221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8232" y="3271242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66948" y="4008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Untapped Potential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866948" y="449889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customers not subscribed nor using discounts—significant opportunity for loyalty strategies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4C22A1-3CC9-EEC9-EAC7-455F23EEC6C0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ED85AA-A46C-29CF-141B-325894263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07"/>
            <a:ext cx="14630400" cy="813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633" y="539472"/>
            <a:ext cx="6059210" cy="61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Recommendations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633" y="1544955"/>
            <a:ext cx="490418" cy="4904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6633" y="2280523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 Young Adults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6633" y="2704743"/>
            <a:ext cx="6505932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 marketing on young adults using social media and influencer channels to maximize revenue impact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7715" y="1544955"/>
            <a:ext cx="490418" cy="4904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7715" y="2280523"/>
            <a:ext cx="3079909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Revise Subscription Strategy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37715" y="2704743"/>
            <a:ext cx="6506051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 compelling perks to boost subscription sign-ups and spending among repeat buyers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633" y="3724751"/>
            <a:ext cx="490418" cy="4904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6633" y="4460319"/>
            <a:ext cx="2517934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Expand Discount Offers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86633" y="4884539"/>
            <a:ext cx="6505932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Offer strategic discounts and bundle deals on popular apparel items like hats and sneakers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7715" y="3724751"/>
            <a:ext cx="490418" cy="4904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7715" y="4460319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 Top Products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37715" y="4884539"/>
            <a:ext cx="6506051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Prioritize inventory investment in highly rated items like gloves, sandals, and boots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6633" y="5904548"/>
            <a:ext cx="490418" cy="4904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6633" y="6640116"/>
            <a:ext cx="2661642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Nurture Loyal Customers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686633" y="7064335"/>
            <a:ext cx="6505932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Reward 3,116 loyal customers with personalized programs to maintain retention excellence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7715" y="5904548"/>
            <a:ext cx="490418" cy="4904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7715" y="6640116"/>
            <a:ext cx="24523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Regional Marketing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437715" y="7064335"/>
            <a:ext cx="6506051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Deploy localized campaigns in high-density customer areas for targeted outreach</a:t>
            </a:r>
            <a:endParaRPr lang="en-US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329F6-8649-6CC3-258A-C74133D6803E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82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31023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 conclusion, these insights offer a strategic framework for driving sustainable growth in the retail sector. By leveraging targeted marketing strategies, enhancing customer retention initiatives, and implementing effective product management practices, businesses can establish a competitive advantage and achieve long-term success in a dynamic retail market.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F5F89F-4CF9-FDD0-52AC-4AE785CD17B1}"/>
              </a:ext>
            </a:extLst>
          </p:cNvPr>
          <p:cNvSpPr/>
          <p:nvPr/>
        </p:nvSpPr>
        <p:spPr>
          <a:xfrm>
            <a:off x="12667785" y="7571678"/>
            <a:ext cx="1873405" cy="568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592</Words>
  <Application>Microsoft Office PowerPoint</Application>
  <PresentationFormat>Custom</PresentationFormat>
  <Paragraphs>109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Yuvraj Singh</cp:lastModifiedBy>
  <cp:revision>7</cp:revision>
  <dcterms:created xsi:type="dcterms:W3CDTF">2025-11-11T16:43:50Z</dcterms:created>
  <dcterms:modified xsi:type="dcterms:W3CDTF">2025-11-27T04:28:19Z</dcterms:modified>
</cp:coreProperties>
</file>