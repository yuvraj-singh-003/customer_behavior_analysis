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4630400" cy="8229600"/>
  <p:notesSz cx="8229600" cy="14630400"/>
  <p:embeddedFontLst>
    <p:embeddedFont>
      <p:font typeface="Kanit Light" panose="020B0604020202020204" charset="-34"/>
      <p:regular r:id="rId15"/>
    </p:embeddedFont>
    <p:embeddedFont>
      <p:font typeface="Martel San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9833" autoAdjust="0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6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2865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968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Relationship Id="rId14" Type="http://schemas.openxmlformats.org/officeDocument/2006/relationships/image" Target="../media/image2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93790" y="174176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2359819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3062883"/>
            <a:ext cx="950428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Customer Shopping Behavior Analysis</a:t>
            </a:r>
            <a:endParaRPr lang="en-US" sz="4450" dirty="0"/>
          </a:p>
        </p:txBody>
      </p:sp>
      <p:sp>
        <p:nvSpPr>
          <p:cNvPr id="7" name="Text 4"/>
          <p:cNvSpPr/>
          <p:nvPr/>
        </p:nvSpPr>
        <p:spPr>
          <a:xfrm>
            <a:off x="793790" y="4111823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Analyzing 3,900 purchases to uncover actionable insights on spending habits, customer segments, and product preferences for data-driven business strategies.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5092779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93790" y="571083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793790" y="632888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63924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Dataset Overview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1801535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3,900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6280190" y="2833330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Total Purchases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280190" y="3323749"/>
            <a:ext cx="232981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Transactions analyzed across diverse product categories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8893493" y="1801535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18</a:t>
            </a:r>
            <a:endParaRPr lang="en-US" sz="5850" dirty="0"/>
          </a:p>
        </p:txBody>
      </p:sp>
      <p:sp>
        <p:nvSpPr>
          <p:cNvPr id="8" name="Text 5"/>
          <p:cNvSpPr/>
          <p:nvPr/>
        </p:nvSpPr>
        <p:spPr>
          <a:xfrm>
            <a:off x="8893493" y="2833330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Dimensions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893493" y="3323749"/>
            <a:ext cx="232981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Features covering demographics, products, and transactions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1506795" y="1801535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$59.76</a:t>
            </a:r>
            <a:endParaRPr lang="en-US" sz="5850" dirty="0"/>
          </a:p>
        </p:txBody>
      </p:sp>
      <p:sp>
        <p:nvSpPr>
          <p:cNvPr id="11" name="Text 8"/>
          <p:cNvSpPr/>
          <p:nvPr/>
        </p:nvSpPr>
        <p:spPr>
          <a:xfrm>
            <a:off x="11506795" y="2833330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Average Purchase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1506795" y="3323749"/>
            <a:ext cx="23298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Mean transaction value in USD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8893493" y="5342334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44</a:t>
            </a:r>
            <a:endParaRPr lang="en-US" sz="5850" dirty="0"/>
          </a:p>
        </p:txBody>
      </p:sp>
      <p:sp>
        <p:nvSpPr>
          <p:cNvPr id="14" name="Text 11"/>
          <p:cNvSpPr/>
          <p:nvPr/>
        </p:nvSpPr>
        <p:spPr>
          <a:xfrm>
            <a:off x="8893493" y="6374130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Average Age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893493" y="6864548"/>
            <a:ext cx="23298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Mean customer age across all segments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224DD1-C2AB-C431-427B-3FEAC5EE5734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04593"/>
            <a:ext cx="635984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Preparation Journey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667000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022044"/>
            <a:ext cx="6407944" cy="30480"/>
          </a:xfrm>
          <a:prstGeom prst="rect">
            <a:avLst/>
          </a:prstGeom>
          <a:solidFill>
            <a:srgbClr val="437066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319635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Quality Check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686770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Identified 37 missing values in Review Rating column requiring attention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28548" y="2667000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3022044"/>
            <a:ext cx="6408063" cy="30480"/>
          </a:xfrm>
          <a:prstGeom prst="rect">
            <a:avLst/>
          </a:prstGeom>
          <a:solidFill>
            <a:srgbClr val="437066"/>
          </a:solidFill>
          <a:ln/>
        </p:spPr>
      </p:sp>
      <p:sp>
        <p:nvSpPr>
          <p:cNvPr id="9" name="Text 7"/>
          <p:cNvSpPr/>
          <p:nvPr/>
        </p:nvSpPr>
        <p:spPr>
          <a:xfrm>
            <a:off x="7428548" y="319635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Cleaning &amp; Imputation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428548" y="3686770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Filled missing ratings with category-specific medians to preserve data integrity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93790" y="480941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93790" y="5164455"/>
            <a:ext cx="6407944" cy="30480"/>
          </a:xfrm>
          <a:prstGeom prst="rect">
            <a:avLst/>
          </a:prstGeom>
          <a:solidFill>
            <a:srgbClr val="437066"/>
          </a:solidFill>
          <a:ln/>
        </p:spPr>
      </p:sp>
      <p:sp>
        <p:nvSpPr>
          <p:cNvPr id="13" name="Text 11"/>
          <p:cNvSpPr/>
          <p:nvPr/>
        </p:nvSpPr>
        <p:spPr>
          <a:xfrm>
            <a:off x="793790" y="53387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Feature Engineering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93790" y="5829181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Created age groups and numeric purchase frequency mappings for deeper analysis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428548" y="480941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428548" y="5164455"/>
            <a:ext cx="6408063" cy="30480"/>
          </a:xfrm>
          <a:prstGeom prst="rect">
            <a:avLst/>
          </a:prstGeom>
          <a:solidFill>
            <a:srgbClr val="437066"/>
          </a:solidFill>
          <a:ln/>
        </p:spPr>
      </p:sp>
      <p:sp>
        <p:nvSpPr>
          <p:cNvPr id="17" name="Text 15"/>
          <p:cNvSpPr/>
          <p:nvPr/>
        </p:nvSpPr>
        <p:spPr>
          <a:xfrm>
            <a:off x="7428548" y="53387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Database Publishing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28548" y="5829181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Exported cleaned dataset to MySQL for advanced business intelligence queries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253234-98A2-B905-35E0-E2FE93B5C71E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0598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Revenue by Gender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510076"/>
            <a:ext cx="7604284" cy="400109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718203" y="6541651"/>
            <a:ext cx="226814" cy="226814"/>
          </a:xfrm>
          <a:prstGeom prst="roundRect">
            <a:avLst>
              <a:gd name="adj" fmla="val 8063"/>
            </a:avLst>
          </a:prstGeom>
          <a:solidFill>
            <a:srgbClr val="1D302C"/>
          </a:solidFill>
          <a:ln/>
        </p:spPr>
      </p:sp>
      <p:sp>
        <p:nvSpPr>
          <p:cNvPr id="5" name="Text 2"/>
          <p:cNvSpPr/>
          <p:nvPr/>
        </p:nvSpPr>
        <p:spPr>
          <a:xfrm>
            <a:off x="4005977" y="6541651"/>
            <a:ext cx="51375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Male</a:t>
            </a: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4672132" y="6541651"/>
            <a:ext cx="226814" cy="226814"/>
          </a:xfrm>
          <a:prstGeom prst="roundRect">
            <a:avLst>
              <a:gd name="adj" fmla="val 8063"/>
            </a:avLst>
          </a:prstGeom>
          <a:solidFill>
            <a:srgbClr val="61A092"/>
          </a:solidFill>
          <a:ln/>
        </p:spPr>
      </p:sp>
      <p:sp>
        <p:nvSpPr>
          <p:cNvPr id="7" name="Text 4"/>
          <p:cNvSpPr/>
          <p:nvPr/>
        </p:nvSpPr>
        <p:spPr>
          <a:xfrm>
            <a:off x="4959906" y="6541651"/>
            <a:ext cx="769739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Female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8959096" y="2481739"/>
            <a:ext cx="460545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Male Customers Drive Revenue</a:t>
            </a:r>
            <a:endParaRPr lang="en-US" sz="2650" dirty="0"/>
          </a:p>
        </p:txBody>
      </p:sp>
      <p:sp>
        <p:nvSpPr>
          <p:cNvPr id="9" name="Text 6"/>
          <p:cNvSpPr/>
          <p:nvPr/>
        </p:nvSpPr>
        <p:spPr>
          <a:xfrm>
            <a:off x="8959096" y="3133844"/>
            <a:ext cx="48850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Male buyers contribute more than double the revenue compared to female buyers, generating $157,890 versus $75,191.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959096" y="4426625"/>
            <a:ext cx="48850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This significant gap presents opportunities for targeted marketing strategies.</a:t>
            </a:r>
            <a:endParaRPr lang="en-US" sz="17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BF1365-EA12-C52E-4133-10F49BC070CD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9335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Top-Rated Products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95920"/>
            <a:ext cx="4196358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793790" y="2565440"/>
            <a:ext cx="4196358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5" name="Shape 3"/>
          <p:cNvSpPr/>
          <p:nvPr/>
        </p:nvSpPr>
        <p:spPr>
          <a:xfrm>
            <a:off x="2551688" y="2255758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6" name="Text 4"/>
          <p:cNvSpPr/>
          <p:nvPr/>
        </p:nvSpPr>
        <p:spPr>
          <a:xfrm>
            <a:off x="2755761" y="2425898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51084" y="31628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Gloves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084" y="365331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3.86 out of 5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2595920"/>
            <a:ext cx="4196358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216962" y="2565440"/>
            <a:ext cx="4196358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11" name="Shape 9"/>
          <p:cNvSpPr/>
          <p:nvPr/>
        </p:nvSpPr>
        <p:spPr>
          <a:xfrm>
            <a:off x="6974860" y="2255758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933" y="2425898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474256" y="31628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Sandals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74256" y="365331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3.84 out of 5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9640133" y="2595920"/>
            <a:ext cx="4196358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40133" y="2565440"/>
            <a:ext cx="4196358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98032" y="2255758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18" name="Text 16"/>
          <p:cNvSpPr/>
          <p:nvPr/>
        </p:nvSpPr>
        <p:spPr>
          <a:xfrm>
            <a:off x="11602105" y="2425898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897427" y="31628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Boots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897427" y="365331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3.82 out of 5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793790" y="4840486"/>
            <a:ext cx="6407944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793790" y="4810006"/>
            <a:ext cx="6407944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23" name="Shape 21"/>
          <p:cNvSpPr/>
          <p:nvPr/>
        </p:nvSpPr>
        <p:spPr>
          <a:xfrm>
            <a:off x="3657540" y="4500324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24" name="Text 22"/>
          <p:cNvSpPr/>
          <p:nvPr/>
        </p:nvSpPr>
        <p:spPr>
          <a:xfrm>
            <a:off x="3861614" y="4670465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51084" y="540746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Hat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51084" y="5897880"/>
            <a:ext cx="589335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3.80 out of 5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7428548" y="4840486"/>
            <a:ext cx="6407944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7428548" y="4810006"/>
            <a:ext cx="6407944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29" name="Shape 27"/>
          <p:cNvSpPr/>
          <p:nvPr/>
        </p:nvSpPr>
        <p:spPr>
          <a:xfrm>
            <a:off x="10292298" y="4500324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6371" y="4670465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5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7685842" y="540746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Skirt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685842" y="5897880"/>
            <a:ext cx="589335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3.78 out of 5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793790" y="677322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Customer satisfaction is highest in footwear and accessories categories, demonstrating strong product appeal.</a:t>
            </a:r>
            <a:endParaRPr lang="en-US" sz="17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A942635-F15A-E42D-89EF-DF180C272EBB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8784" y="589002"/>
            <a:ext cx="7666315" cy="668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Customer Segmentation Insights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532573" y="2969062"/>
            <a:ext cx="2631519" cy="534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4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80%</a:t>
            </a:r>
            <a:endParaRPr lang="en-US" sz="4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846" y="1631871"/>
            <a:ext cx="3209211" cy="320921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11260" y="5108377"/>
            <a:ext cx="2674382" cy="334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Loyal Customers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748784" y="5570934"/>
            <a:ext cx="4199334" cy="342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16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3,116 customers with 10+ purchases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5999321" y="2969062"/>
            <a:ext cx="2631519" cy="534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4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18%</a:t>
            </a:r>
            <a:endParaRPr lang="en-US" sz="4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0595" y="1631871"/>
            <a:ext cx="3209211" cy="32092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78009" y="5108377"/>
            <a:ext cx="2674382" cy="334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Returning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5215533" y="5570934"/>
            <a:ext cx="4199334" cy="342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16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701 customers with 2-10 purchases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0466070" y="2969062"/>
            <a:ext cx="2631519" cy="534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4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2%</a:t>
            </a:r>
            <a:endParaRPr lang="en-US" sz="4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7343" y="1631871"/>
            <a:ext cx="3209211" cy="320921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444758" y="5108377"/>
            <a:ext cx="2674382" cy="334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New Customers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9682282" y="5570934"/>
            <a:ext cx="4199334" cy="342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16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83 customers with 1 purchase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748784" y="6234113"/>
            <a:ext cx="3581638" cy="401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5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Strong Retention Success</a:t>
            </a:r>
            <a:endParaRPr lang="en-US" sz="2500" dirty="0"/>
          </a:p>
        </p:txBody>
      </p:sp>
      <p:sp>
        <p:nvSpPr>
          <p:cNvPr id="16" name="Text 11"/>
          <p:cNvSpPr/>
          <p:nvPr/>
        </p:nvSpPr>
        <p:spPr>
          <a:xfrm>
            <a:off x="748784" y="6955988"/>
            <a:ext cx="13132832" cy="68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The large proportion of loyal customers indicates excellent retention and positive customer experience. Focus should shift to converting returning customers into loyal advocates.</a:t>
            </a:r>
            <a:endParaRPr lang="en-US" sz="165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148CBD-94C9-6B37-4863-7ABBB08DBBE3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7829" y="736283"/>
            <a:ext cx="6955393" cy="649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0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Subscription Performance Gap</a:t>
            </a:r>
            <a:endParaRPr lang="en-US" sz="4050" dirty="0"/>
          </a:p>
        </p:txBody>
      </p:sp>
      <p:sp>
        <p:nvSpPr>
          <p:cNvPr id="3" name="Shape 1"/>
          <p:cNvSpPr/>
          <p:nvPr/>
        </p:nvSpPr>
        <p:spPr>
          <a:xfrm>
            <a:off x="727829" y="3922514"/>
            <a:ext cx="13174742" cy="22860"/>
          </a:xfrm>
          <a:prstGeom prst="roundRect">
            <a:avLst>
              <a:gd name="adj" fmla="val 382074"/>
            </a:avLst>
          </a:prstGeom>
          <a:solidFill>
            <a:srgbClr val="C5D2CF"/>
          </a:solidFill>
          <a:ln/>
        </p:spPr>
      </p:sp>
      <p:sp>
        <p:nvSpPr>
          <p:cNvPr id="4" name="Shape 2"/>
          <p:cNvSpPr/>
          <p:nvPr/>
        </p:nvSpPr>
        <p:spPr>
          <a:xfrm>
            <a:off x="727829" y="1802011"/>
            <a:ext cx="6457355" cy="2120503"/>
          </a:xfrm>
          <a:prstGeom prst="roundRect">
            <a:avLst>
              <a:gd name="adj" fmla="val 411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6761" y="2017514"/>
            <a:ext cx="2599372" cy="324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0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Subscribed Customers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43332" y="2466975"/>
            <a:ext cx="602634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spend: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$59.49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3332" y="2924413"/>
            <a:ext cx="602634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Total revenue: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$62,645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3332" y="3381851"/>
            <a:ext cx="602634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Among repeat buyers (5+ purchases):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958 subscribed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45097" y="3945374"/>
            <a:ext cx="6457474" cy="2120503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10" name="Text 8"/>
          <p:cNvSpPr/>
          <p:nvPr/>
        </p:nvSpPr>
        <p:spPr>
          <a:xfrm>
            <a:off x="9248061" y="4153257"/>
            <a:ext cx="2851547" cy="324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0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Unsubscribed Customers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60600" y="4602718"/>
            <a:ext cx="602646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spend: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$59.87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60600" y="5060156"/>
            <a:ext cx="602646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Total revenue: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$170,436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60600" y="5517594"/>
            <a:ext cx="602646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Among repeat buyers (5+ purchases):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2,518 unsubscribed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27829" y="6276856"/>
            <a:ext cx="13174742" cy="1216343"/>
          </a:xfrm>
          <a:prstGeom prst="roundRect">
            <a:avLst>
              <a:gd name="adj" fmla="val 7181"/>
            </a:avLst>
          </a:prstGeom>
          <a:solidFill>
            <a:srgbClr val="CFE2DE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12" y="6568083"/>
            <a:ext cx="259913" cy="2078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03509" y="6536650"/>
            <a:ext cx="12291179" cy="665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Critical Finding:</a:t>
            </a:r>
            <a:r>
              <a:rPr lang="en-US" sz="160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Unsubscribed customers spend more and generate higher total sales. The subscription program is not effectively influencing spending behavior and needs enhancement.</a:t>
            </a:r>
            <a:endParaRPr lang="en-US" sz="16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817103F-55A3-0197-C56A-6F80FEC9176A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450" y="434102"/>
            <a:ext cx="3946922" cy="4932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Revenue by Age Group</a:t>
            </a:r>
            <a:endParaRPr lang="en-US" sz="3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1243013"/>
            <a:ext cx="10420350" cy="58353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2450" y="7549898"/>
            <a:ext cx="13525500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Young adults are the largest revenue contributors at $62,143, forming the core customer base and primary driver of sales performance.</a:t>
            </a:r>
            <a:endParaRPr lang="en-US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C61BE6-9A43-E8D1-E0E1-DAAFB519BD2A}"/>
              </a:ext>
            </a:extLst>
          </p:cNvPr>
          <p:cNvSpPr/>
          <p:nvPr/>
        </p:nvSpPr>
        <p:spPr>
          <a:xfrm>
            <a:off x="10058400" y="6844007"/>
            <a:ext cx="1828800" cy="5500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31728C-DEC9-316B-769D-C96FD04FDA8A}"/>
              </a:ext>
            </a:extLst>
          </p:cNvPr>
          <p:cNvSpPr txBox="1"/>
          <p:nvPr/>
        </p:nvSpPr>
        <p:spPr>
          <a:xfrm>
            <a:off x="10298151" y="6787004"/>
            <a:ext cx="1349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B6B4AE"/>
                </a:solidFill>
              </a:rPr>
              <a:t> </a:t>
            </a:r>
            <a:r>
              <a:rPr lang="en-US" dirty="0">
                <a:solidFill>
                  <a:srgbClr val="5B5B56"/>
                </a:solidFill>
              </a:rPr>
              <a:t>$75,000.00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51897F-16D9-8B2D-D5C3-B197134C3B74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5228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Dashboard Highlights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101221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1888" y="3271242"/>
            <a:ext cx="340162" cy="340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0604" y="40084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Customer Base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20604" y="449889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4,000 customers with $59.76 average purchase value and 3.75 review rating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101221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5060" y="3271242"/>
            <a:ext cx="340162" cy="3401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43776" y="40084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Category Leadership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443776" y="4498896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Clothing leads in both customer engagement and revenue, followed by accessories and footwear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101221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68232" y="3271242"/>
            <a:ext cx="340162" cy="3401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866948" y="40084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Untapped Potential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866948" y="449889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Most customers not subscribed or using discounts—significant opportunity for loyalty strategies</a:t>
            </a:r>
            <a:endParaRPr lang="en-US" sz="17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4C22A1-3CC9-EEC9-EAC7-455F23EEC6C0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8ED85AA-A46C-29CF-141B-325894263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8507"/>
            <a:ext cx="14630400" cy="8132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6633" y="539472"/>
            <a:ext cx="6059210" cy="613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Strategic Recommendations</a:t>
            </a:r>
            <a:endParaRPr lang="en-US" sz="3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6633" y="1544955"/>
            <a:ext cx="490418" cy="49041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6633" y="2280523"/>
            <a:ext cx="2452330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Target Young Adults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686633" y="2704743"/>
            <a:ext cx="6505932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Focus marketing on young adults using social media and influencer channels to maximize revenue impact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37715" y="1544955"/>
            <a:ext cx="490418" cy="49041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37715" y="2280523"/>
            <a:ext cx="3079909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Revise Subscription Strategy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7437715" y="2704743"/>
            <a:ext cx="6506051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Add compelling perks to boost subscription sign-ups and spending among repeat buyers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6633" y="3724751"/>
            <a:ext cx="490418" cy="49041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86633" y="4460319"/>
            <a:ext cx="2517934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Expand Discount Offers</a:t>
            </a:r>
            <a:endParaRPr lang="en-US" sz="1900" dirty="0"/>
          </a:p>
        </p:txBody>
      </p:sp>
      <p:sp>
        <p:nvSpPr>
          <p:cNvPr id="11" name="Text 6"/>
          <p:cNvSpPr/>
          <p:nvPr/>
        </p:nvSpPr>
        <p:spPr>
          <a:xfrm>
            <a:off x="686633" y="4884539"/>
            <a:ext cx="6505932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Offer strategic discounts and bundle deals on popular apparel items like hats and sneakers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37715" y="3724751"/>
            <a:ext cx="490418" cy="49041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37715" y="4460319"/>
            <a:ext cx="2452330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Enhance Top Products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7437715" y="4884539"/>
            <a:ext cx="6506051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Prioritize inventory investment in highly rated items like gloves, sandals, and boots</a:t>
            </a:r>
            <a:endParaRPr lang="en-US" sz="15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6633" y="5904548"/>
            <a:ext cx="490418" cy="49041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86633" y="6640116"/>
            <a:ext cx="2661642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Nurture Loyal Customers</a:t>
            </a:r>
            <a:endParaRPr lang="en-US" sz="1900" dirty="0"/>
          </a:p>
        </p:txBody>
      </p:sp>
      <p:sp>
        <p:nvSpPr>
          <p:cNvPr id="17" name="Text 10"/>
          <p:cNvSpPr/>
          <p:nvPr/>
        </p:nvSpPr>
        <p:spPr>
          <a:xfrm>
            <a:off x="686633" y="7064335"/>
            <a:ext cx="6505932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Reward 3,116 loyal customers with personalized programs to maintain retention excellence</a:t>
            </a:r>
            <a:endParaRPr lang="en-US" sz="15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37715" y="5904548"/>
            <a:ext cx="490418" cy="49041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37715" y="6640116"/>
            <a:ext cx="2452330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Regional Marketing</a:t>
            </a:r>
            <a:endParaRPr lang="en-US" sz="1900" dirty="0"/>
          </a:p>
        </p:txBody>
      </p:sp>
      <p:sp>
        <p:nvSpPr>
          <p:cNvPr id="20" name="Text 12"/>
          <p:cNvSpPr/>
          <p:nvPr/>
        </p:nvSpPr>
        <p:spPr>
          <a:xfrm>
            <a:off x="7437715" y="7064335"/>
            <a:ext cx="6506051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Deploy localized campaigns in high-density customer areas for targeted outreach</a:t>
            </a:r>
            <a:endParaRPr lang="en-US" sz="15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6329F6-8649-6CC3-258A-C74133D6803E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428208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Conclusion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5331023"/>
            <a:ext cx="130428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 conclusion, these insights offer a strategic framework for driving sustainable growth in the retail sector. By leveraging targeted marketing strategies, enhancing customer retention initiatives, and implementing effective product management practices, businesses can establish a competitive advantage and achieve long-term success in a dynamic retail market.</a:t>
            </a:r>
            <a:endParaRPr lang="en-US" sz="17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F5F89F-4CF9-FDD0-52AC-4AE785CD17B1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592</Words>
  <Application>Microsoft Office PowerPoint</Application>
  <PresentationFormat>Custom</PresentationFormat>
  <Paragraphs>109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Martel Sans</vt:lpstr>
      <vt:lpstr>Kanit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Yuvraj Singh</cp:lastModifiedBy>
  <cp:revision>6</cp:revision>
  <dcterms:created xsi:type="dcterms:W3CDTF">2025-11-11T16:43:50Z</dcterms:created>
  <dcterms:modified xsi:type="dcterms:W3CDTF">2025-11-25T14:51:55Z</dcterms:modified>
</cp:coreProperties>
</file>