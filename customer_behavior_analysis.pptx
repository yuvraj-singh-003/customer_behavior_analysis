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webextensions/webextension1.xml" ContentType="application/vnd.ms-office.webextension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5" r:id="rId12"/>
    <p:sldId id="266" r:id="rId13"/>
  </p:sldIdLst>
  <p:sldSz cx="14630400" cy="8229600"/>
  <p:notesSz cx="8229600" cy="14630400"/>
  <p:embeddedFontLst>
    <p:embeddedFont>
      <p:font typeface="Kanit Light" panose="020B0604020202020204" charset="-34"/>
      <p:regular r:id="rId15"/>
    </p:embeddedFont>
    <p:embeddedFont>
      <p:font typeface="Martel Sans" panose="020B0604020202020204" charset="0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9833" autoAdjust="0"/>
    <p:restoredTop sz="94610"/>
  </p:normalViewPr>
  <p:slideViewPr>
    <p:cSldViewPr snapToGrid="0" snapToObjects="1">
      <p:cViewPr varScale="1">
        <p:scale>
          <a:sx n="68" d="100"/>
          <a:sy n="68" d="100"/>
        </p:scale>
        <p:origin x="6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52865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BF4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BF4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BF4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BF4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BF4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BF4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BF4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BF4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BF4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BF4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EBF4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28800" y="1346836"/>
            <a:ext cx="10972800" cy="2865120"/>
          </a:xfrm>
        </p:spPr>
        <p:txBody>
          <a:bodyPr anchor="b"/>
          <a:lstStyle>
            <a:lvl1pPr algn="ctr"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4322446"/>
            <a:ext cx="10972800" cy="1986914"/>
          </a:xfrm>
        </p:spPr>
        <p:txBody>
          <a:bodyPr/>
          <a:lstStyle>
            <a:lvl1pPr marL="0" indent="0" algn="ctr">
              <a:buNone/>
              <a:defRPr sz="2880"/>
            </a:lvl1pPr>
            <a:lvl2pPr marL="548640" indent="0" algn="ctr">
              <a:buNone/>
              <a:defRPr sz="2400"/>
            </a:lvl2pPr>
            <a:lvl3pPr marL="1097280" indent="0" algn="ctr">
              <a:buNone/>
              <a:defRPr sz="2160"/>
            </a:lvl3pPr>
            <a:lvl4pPr marL="1645920" indent="0" algn="ctr">
              <a:buNone/>
              <a:defRPr sz="1920"/>
            </a:lvl4pPr>
            <a:lvl5pPr marL="2194560" indent="0" algn="ctr">
              <a:buNone/>
              <a:defRPr sz="1920"/>
            </a:lvl5pPr>
            <a:lvl6pPr marL="2743200" indent="0" algn="ctr">
              <a:buNone/>
              <a:defRPr sz="1920"/>
            </a:lvl6pPr>
            <a:lvl7pPr marL="3291840" indent="0" algn="ctr">
              <a:buNone/>
              <a:defRPr sz="1920"/>
            </a:lvl7pPr>
            <a:lvl8pPr marL="3840480" indent="0" algn="ctr">
              <a:buNone/>
              <a:defRPr sz="1920"/>
            </a:lvl8pPr>
            <a:lvl9pPr marL="4389120" indent="0" algn="ctr">
              <a:buNone/>
              <a:defRPr sz="192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19687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13.svg"/><Relationship Id="rId5" Type="http://schemas.openxmlformats.org/officeDocument/2006/relationships/image" Target="../media/image12.png"/><Relationship Id="rId4" Type="http://schemas.openxmlformats.org/officeDocument/2006/relationships/image" Target="../media/image11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microsoft.com/office/2011/relationships/webextension" Target="../webextensions/webextension1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13" Type="http://schemas.openxmlformats.org/officeDocument/2006/relationships/image" Target="../media/image27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0.sv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svg"/><Relationship Id="rId4" Type="http://schemas.openxmlformats.org/officeDocument/2006/relationships/image" Target="../media/image18.svg"/><Relationship Id="rId9" Type="http://schemas.openxmlformats.org/officeDocument/2006/relationships/image" Target="../media/image23.png"/><Relationship Id="rId14" Type="http://schemas.openxmlformats.org/officeDocument/2006/relationships/image" Target="../media/image28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93790" y="1741765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 dirty="0"/>
          </a:p>
        </p:txBody>
      </p:sp>
      <p:sp>
        <p:nvSpPr>
          <p:cNvPr id="5" name="Text 2"/>
          <p:cNvSpPr/>
          <p:nvPr/>
        </p:nvSpPr>
        <p:spPr>
          <a:xfrm>
            <a:off x="793790" y="2359819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793790" y="3062883"/>
            <a:ext cx="9504283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Customer Shopping Behavior Analysis</a:t>
            </a:r>
            <a:endParaRPr lang="en-US" sz="4450" dirty="0"/>
          </a:p>
        </p:txBody>
      </p:sp>
      <p:sp>
        <p:nvSpPr>
          <p:cNvPr id="7" name="Text 4"/>
          <p:cNvSpPr/>
          <p:nvPr/>
        </p:nvSpPr>
        <p:spPr>
          <a:xfrm>
            <a:off x="793790" y="4111823"/>
            <a:ext cx="130428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Analyzing 3,900 purchases to uncover actionable insights on spending habits, customer segments, and product preferences for data-driven business strategies.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793790" y="5092779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 dirty="0"/>
          </a:p>
        </p:txBody>
      </p:sp>
      <p:sp>
        <p:nvSpPr>
          <p:cNvPr id="9" name="Text 6"/>
          <p:cNvSpPr/>
          <p:nvPr/>
        </p:nvSpPr>
        <p:spPr>
          <a:xfrm>
            <a:off x="793790" y="5710833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793790" y="6328886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1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639247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Dataset Overview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6280190" y="1801535"/>
            <a:ext cx="23298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3,900</a:t>
            </a:r>
            <a:endParaRPr lang="en-US" sz="5850" dirty="0"/>
          </a:p>
        </p:txBody>
      </p:sp>
      <p:sp>
        <p:nvSpPr>
          <p:cNvPr id="5" name="Text 2"/>
          <p:cNvSpPr/>
          <p:nvPr/>
        </p:nvSpPr>
        <p:spPr>
          <a:xfrm>
            <a:off x="6280190" y="2833330"/>
            <a:ext cx="232981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Total Purchases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280190" y="3323749"/>
            <a:ext cx="2329815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Transactions analyzed across diverse product categories</a:t>
            </a:r>
            <a:endParaRPr lang="en-US" sz="1750" dirty="0"/>
          </a:p>
        </p:txBody>
      </p:sp>
      <p:sp>
        <p:nvSpPr>
          <p:cNvPr id="7" name="Text 4"/>
          <p:cNvSpPr/>
          <p:nvPr/>
        </p:nvSpPr>
        <p:spPr>
          <a:xfrm>
            <a:off x="8893493" y="1801535"/>
            <a:ext cx="23298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18</a:t>
            </a:r>
            <a:endParaRPr lang="en-US" sz="5850" dirty="0"/>
          </a:p>
        </p:txBody>
      </p:sp>
      <p:sp>
        <p:nvSpPr>
          <p:cNvPr id="8" name="Text 5"/>
          <p:cNvSpPr/>
          <p:nvPr/>
        </p:nvSpPr>
        <p:spPr>
          <a:xfrm>
            <a:off x="8893493" y="2833330"/>
            <a:ext cx="232981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Data Dimensions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8893493" y="3323749"/>
            <a:ext cx="2329815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Features covering demographics, products, and transactions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11506795" y="1801535"/>
            <a:ext cx="23298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$59.76</a:t>
            </a:r>
            <a:endParaRPr lang="en-US" sz="5850" dirty="0"/>
          </a:p>
        </p:txBody>
      </p:sp>
      <p:sp>
        <p:nvSpPr>
          <p:cNvPr id="11" name="Text 8"/>
          <p:cNvSpPr/>
          <p:nvPr/>
        </p:nvSpPr>
        <p:spPr>
          <a:xfrm>
            <a:off x="11506795" y="2833330"/>
            <a:ext cx="232981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Average Purchase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1506795" y="3323749"/>
            <a:ext cx="23298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Mean transaction value in USD</a:t>
            </a:r>
            <a:endParaRPr lang="en-US" sz="1750" dirty="0"/>
          </a:p>
        </p:txBody>
      </p:sp>
      <p:sp>
        <p:nvSpPr>
          <p:cNvPr id="13" name="Text 10"/>
          <p:cNvSpPr/>
          <p:nvPr/>
        </p:nvSpPr>
        <p:spPr>
          <a:xfrm>
            <a:off x="8893493" y="5342334"/>
            <a:ext cx="23298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44</a:t>
            </a:r>
            <a:endParaRPr lang="en-US" sz="5850" dirty="0"/>
          </a:p>
        </p:txBody>
      </p:sp>
      <p:sp>
        <p:nvSpPr>
          <p:cNvPr id="14" name="Text 11"/>
          <p:cNvSpPr/>
          <p:nvPr/>
        </p:nvSpPr>
        <p:spPr>
          <a:xfrm>
            <a:off x="8893493" y="6374130"/>
            <a:ext cx="232981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Average Age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8893493" y="6864548"/>
            <a:ext cx="23298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Mean customer age across all segments</a:t>
            </a:r>
            <a:endParaRPr lang="en-US" sz="175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4224DD1-C2AB-C431-427B-3FEAC5EE5734}"/>
              </a:ext>
            </a:extLst>
          </p:cNvPr>
          <p:cNvSpPr/>
          <p:nvPr/>
        </p:nvSpPr>
        <p:spPr>
          <a:xfrm>
            <a:off x="12667785" y="7571678"/>
            <a:ext cx="1873405" cy="5687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504593"/>
            <a:ext cx="6359843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Data Preparation Journey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667000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01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793790" y="3022044"/>
            <a:ext cx="6407944" cy="30480"/>
          </a:xfrm>
          <a:prstGeom prst="rect">
            <a:avLst/>
          </a:prstGeom>
          <a:solidFill>
            <a:srgbClr val="437066"/>
          </a:solidFill>
          <a:ln/>
        </p:spPr>
      </p:sp>
      <p:sp>
        <p:nvSpPr>
          <p:cNvPr id="5" name="Text 3"/>
          <p:cNvSpPr/>
          <p:nvPr/>
        </p:nvSpPr>
        <p:spPr>
          <a:xfrm>
            <a:off x="793790" y="319635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Data Quality Check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93790" y="3686770"/>
            <a:ext cx="6407944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Identified 37 missing values in Review Rating column requiring attention</a:t>
            </a:r>
            <a:endParaRPr lang="en-US" sz="1750" dirty="0"/>
          </a:p>
        </p:txBody>
      </p:sp>
      <p:sp>
        <p:nvSpPr>
          <p:cNvPr id="7" name="Text 5"/>
          <p:cNvSpPr/>
          <p:nvPr/>
        </p:nvSpPr>
        <p:spPr>
          <a:xfrm>
            <a:off x="7428548" y="2667000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02</a:t>
            </a:r>
            <a:endParaRPr lang="en-US" sz="1750" dirty="0"/>
          </a:p>
        </p:txBody>
      </p:sp>
      <p:sp>
        <p:nvSpPr>
          <p:cNvPr id="8" name="Shape 6"/>
          <p:cNvSpPr/>
          <p:nvPr/>
        </p:nvSpPr>
        <p:spPr>
          <a:xfrm>
            <a:off x="7428548" y="3022044"/>
            <a:ext cx="6408063" cy="30480"/>
          </a:xfrm>
          <a:prstGeom prst="rect">
            <a:avLst/>
          </a:prstGeom>
          <a:solidFill>
            <a:srgbClr val="437066"/>
          </a:solidFill>
          <a:ln/>
        </p:spPr>
      </p:sp>
      <p:sp>
        <p:nvSpPr>
          <p:cNvPr id="9" name="Text 7"/>
          <p:cNvSpPr/>
          <p:nvPr/>
        </p:nvSpPr>
        <p:spPr>
          <a:xfrm>
            <a:off x="7428548" y="319635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Cleaning &amp; Imputation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428548" y="3686770"/>
            <a:ext cx="640806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Filled missing ratings with category-specific medians to preserve data integrity</a:t>
            </a:r>
            <a:endParaRPr lang="en-US" sz="1750" dirty="0"/>
          </a:p>
        </p:txBody>
      </p:sp>
      <p:sp>
        <p:nvSpPr>
          <p:cNvPr id="11" name="Text 9"/>
          <p:cNvSpPr/>
          <p:nvPr/>
        </p:nvSpPr>
        <p:spPr>
          <a:xfrm>
            <a:off x="793790" y="4809411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03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793790" y="5164455"/>
            <a:ext cx="6407944" cy="30480"/>
          </a:xfrm>
          <a:prstGeom prst="rect">
            <a:avLst/>
          </a:prstGeom>
          <a:solidFill>
            <a:srgbClr val="437066"/>
          </a:solidFill>
          <a:ln/>
        </p:spPr>
      </p:sp>
      <p:sp>
        <p:nvSpPr>
          <p:cNvPr id="13" name="Text 11"/>
          <p:cNvSpPr/>
          <p:nvPr/>
        </p:nvSpPr>
        <p:spPr>
          <a:xfrm>
            <a:off x="793790" y="533876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Feature Engineering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93790" y="5829181"/>
            <a:ext cx="6407944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Created age groups and numeric purchase frequency mappings for deeper analysis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7428548" y="4809411"/>
            <a:ext cx="22681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04</a:t>
            </a:r>
            <a:endParaRPr lang="en-US" sz="1750" dirty="0"/>
          </a:p>
        </p:txBody>
      </p:sp>
      <p:sp>
        <p:nvSpPr>
          <p:cNvPr id="16" name="Shape 14"/>
          <p:cNvSpPr/>
          <p:nvPr/>
        </p:nvSpPr>
        <p:spPr>
          <a:xfrm>
            <a:off x="7428548" y="5164455"/>
            <a:ext cx="6408063" cy="30480"/>
          </a:xfrm>
          <a:prstGeom prst="rect">
            <a:avLst/>
          </a:prstGeom>
          <a:solidFill>
            <a:srgbClr val="437066"/>
          </a:solidFill>
          <a:ln/>
        </p:spPr>
      </p:sp>
      <p:sp>
        <p:nvSpPr>
          <p:cNvPr id="17" name="Text 15"/>
          <p:cNvSpPr/>
          <p:nvPr/>
        </p:nvSpPr>
        <p:spPr>
          <a:xfrm>
            <a:off x="7428548" y="5338763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Database Publishing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428548" y="5829181"/>
            <a:ext cx="6408063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Exported cleaned dataset to MySQL for advanced business intelligence queries</a:t>
            </a:r>
            <a:endParaRPr lang="en-US" sz="175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3253234-98A2-B905-35E0-E2FE93B5C71E}"/>
              </a:ext>
            </a:extLst>
          </p:cNvPr>
          <p:cNvSpPr/>
          <p:nvPr/>
        </p:nvSpPr>
        <p:spPr>
          <a:xfrm>
            <a:off x="12667785" y="7571678"/>
            <a:ext cx="1873405" cy="5687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205984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Revenue by Gender</a:t>
            </a:r>
            <a:endParaRPr lang="en-US" sz="44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510076"/>
            <a:ext cx="7604284" cy="4001095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718203" y="6541651"/>
            <a:ext cx="226814" cy="226814"/>
          </a:xfrm>
          <a:prstGeom prst="roundRect">
            <a:avLst>
              <a:gd name="adj" fmla="val 8063"/>
            </a:avLst>
          </a:prstGeom>
          <a:solidFill>
            <a:srgbClr val="1D302C"/>
          </a:solidFill>
          <a:ln/>
        </p:spPr>
      </p:sp>
      <p:sp>
        <p:nvSpPr>
          <p:cNvPr id="5" name="Text 2"/>
          <p:cNvSpPr/>
          <p:nvPr/>
        </p:nvSpPr>
        <p:spPr>
          <a:xfrm>
            <a:off x="4005977" y="6541651"/>
            <a:ext cx="513755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Male</a:t>
            </a:r>
            <a:endParaRPr lang="en-US" sz="1750" dirty="0"/>
          </a:p>
        </p:txBody>
      </p:sp>
      <p:sp>
        <p:nvSpPr>
          <p:cNvPr id="6" name="Shape 3"/>
          <p:cNvSpPr/>
          <p:nvPr/>
        </p:nvSpPr>
        <p:spPr>
          <a:xfrm>
            <a:off x="4672132" y="6541651"/>
            <a:ext cx="226814" cy="226814"/>
          </a:xfrm>
          <a:prstGeom prst="roundRect">
            <a:avLst>
              <a:gd name="adj" fmla="val 8063"/>
            </a:avLst>
          </a:prstGeom>
          <a:solidFill>
            <a:srgbClr val="61A092"/>
          </a:solidFill>
          <a:ln/>
        </p:spPr>
      </p:sp>
      <p:sp>
        <p:nvSpPr>
          <p:cNvPr id="7" name="Text 4"/>
          <p:cNvSpPr/>
          <p:nvPr/>
        </p:nvSpPr>
        <p:spPr>
          <a:xfrm>
            <a:off x="4959906" y="6541651"/>
            <a:ext cx="769739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Female</a:t>
            </a:r>
            <a:endParaRPr lang="en-US" sz="1750" dirty="0"/>
          </a:p>
        </p:txBody>
      </p:sp>
      <p:sp>
        <p:nvSpPr>
          <p:cNvPr id="8" name="Text 5"/>
          <p:cNvSpPr/>
          <p:nvPr/>
        </p:nvSpPr>
        <p:spPr>
          <a:xfrm>
            <a:off x="8959096" y="2481739"/>
            <a:ext cx="4605457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Male Customers Drive Revenue</a:t>
            </a:r>
            <a:endParaRPr lang="en-US" sz="2650" dirty="0"/>
          </a:p>
        </p:txBody>
      </p:sp>
      <p:sp>
        <p:nvSpPr>
          <p:cNvPr id="9" name="Text 6"/>
          <p:cNvSpPr/>
          <p:nvPr/>
        </p:nvSpPr>
        <p:spPr>
          <a:xfrm>
            <a:off x="8959096" y="3133844"/>
            <a:ext cx="4885015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Male buyers contribute more than double the revenue compared to female buyers, generating $157,890 versus $75,191.</a:t>
            </a:r>
            <a:endParaRPr lang="en-US" sz="1750" dirty="0"/>
          </a:p>
        </p:txBody>
      </p:sp>
      <p:sp>
        <p:nvSpPr>
          <p:cNvPr id="10" name="Text 7"/>
          <p:cNvSpPr/>
          <p:nvPr/>
        </p:nvSpPr>
        <p:spPr>
          <a:xfrm>
            <a:off x="8959096" y="4426625"/>
            <a:ext cx="4885015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This significant gap presents opportunities for targeted marketing strategies.</a:t>
            </a:r>
            <a:endParaRPr lang="en-US" sz="175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FBF1365-EA12-C52E-4133-10F49BC070CD}"/>
              </a:ext>
            </a:extLst>
          </p:cNvPr>
          <p:cNvSpPr/>
          <p:nvPr/>
        </p:nvSpPr>
        <p:spPr>
          <a:xfrm>
            <a:off x="12667785" y="7571678"/>
            <a:ext cx="1873405" cy="5687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093351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Top-Rated Products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2595920"/>
            <a:ext cx="4196358" cy="1677591"/>
          </a:xfrm>
          <a:prstGeom prst="roundRect">
            <a:avLst>
              <a:gd name="adj" fmla="val 8721"/>
            </a:avLst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793790" y="2565440"/>
            <a:ext cx="4196358" cy="121920"/>
          </a:xfrm>
          <a:prstGeom prst="roundRect">
            <a:avLst>
              <a:gd name="adj" fmla="val 78139"/>
            </a:avLst>
          </a:prstGeom>
          <a:solidFill>
            <a:srgbClr val="437066"/>
          </a:solidFill>
          <a:ln/>
        </p:spPr>
      </p:sp>
      <p:sp>
        <p:nvSpPr>
          <p:cNvPr id="5" name="Shape 3"/>
          <p:cNvSpPr/>
          <p:nvPr/>
        </p:nvSpPr>
        <p:spPr>
          <a:xfrm>
            <a:off x="2551688" y="2255758"/>
            <a:ext cx="680442" cy="680442"/>
          </a:xfrm>
          <a:prstGeom prst="roundRect">
            <a:avLst>
              <a:gd name="adj" fmla="val 134383"/>
            </a:avLst>
          </a:prstGeom>
          <a:solidFill>
            <a:srgbClr val="437066"/>
          </a:solidFill>
          <a:ln/>
        </p:spPr>
      </p:sp>
      <p:sp>
        <p:nvSpPr>
          <p:cNvPr id="6" name="Text 4"/>
          <p:cNvSpPr/>
          <p:nvPr/>
        </p:nvSpPr>
        <p:spPr>
          <a:xfrm>
            <a:off x="2755761" y="2425898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1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51084" y="316289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Gloves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51084" y="3653314"/>
            <a:ext cx="368177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Average rating: 3.86 out of 5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5216962" y="2595920"/>
            <a:ext cx="4196358" cy="1677591"/>
          </a:xfrm>
          <a:prstGeom prst="roundRect">
            <a:avLst>
              <a:gd name="adj" fmla="val 8721"/>
            </a:avLst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5216962" y="2565440"/>
            <a:ext cx="4196358" cy="121920"/>
          </a:xfrm>
          <a:prstGeom prst="roundRect">
            <a:avLst>
              <a:gd name="adj" fmla="val 78139"/>
            </a:avLst>
          </a:prstGeom>
          <a:solidFill>
            <a:srgbClr val="437066"/>
          </a:solidFill>
          <a:ln/>
        </p:spPr>
      </p:sp>
      <p:sp>
        <p:nvSpPr>
          <p:cNvPr id="11" name="Shape 9"/>
          <p:cNvSpPr/>
          <p:nvPr/>
        </p:nvSpPr>
        <p:spPr>
          <a:xfrm>
            <a:off x="6974860" y="2255758"/>
            <a:ext cx="680442" cy="680442"/>
          </a:xfrm>
          <a:prstGeom prst="roundRect">
            <a:avLst>
              <a:gd name="adj" fmla="val 134383"/>
            </a:avLst>
          </a:prstGeom>
          <a:solidFill>
            <a:srgbClr val="437066"/>
          </a:solidFill>
          <a:ln/>
        </p:spPr>
      </p:sp>
      <p:sp>
        <p:nvSpPr>
          <p:cNvPr id="12" name="Text 10"/>
          <p:cNvSpPr/>
          <p:nvPr/>
        </p:nvSpPr>
        <p:spPr>
          <a:xfrm>
            <a:off x="7178933" y="2425898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2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5474256" y="316289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Sandals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74256" y="3653314"/>
            <a:ext cx="368177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Average rating: 3.84 out of 5</a:t>
            </a:r>
            <a:endParaRPr lang="en-US" sz="1750" dirty="0"/>
          </a:p>
        </p:txBody>
      </p:sp>
      <p:sp>
        <p:nvSpPr>
          <p:cNvPr id="15" name="Shape 13"/>
          <p:cNvSpPr/>
          <p:nvPr/>
        </p:nvSpPr>
        <p:spPr>
          <a:xfrm>
            <a:off x="9640133" y="2595920"/>
            <a:ext cx="4196358" cy="1677591"/>
          </a:xfrm>
          <a:prstGeom prst="roundRect">
            <a:avLst>
              <a:gd name="adj" fmla="val 8721"/>
            </a:avLst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9640133" y="2565440"/>
            <a:ext cx="4196358" cy="121920"/>
          </a:xfrm>
          <a:prstGeom prst="roundRect">
            <a:avLst>
              <a:gd name="adj" fmla="val 78139"/>
            </a:avLst>
          </a:prstGeom>
          <a:solidFill>
            <a:srgbClr val="437066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98032" y="2255758"/>
            <a:ext cx="680442" cy="680442"/>
          </a:xfrm>
          <a:prstGeom prst="roundRect">
            <a:avLst>
              <a:gd name="adj" fmla="val 134383"/>
            </a:avLst>
          </a:prstGeom>
          <a:solidFill>
            <a:srgbClr val="437066"/>
          </a:solidFill>
          <a:ln/>
        </p:spPr>
      </p:sp>
      <p:sp>
        <p:nvSpPr>
          <p:cNvPr id="18" name="Text 16"/>
          <p:cNvSpPr/>
          <p:nvPr/>
        </p:nvSpPr>
        <p:spPr>
          <a:xfrm>
            <a:off x="11602105" y="2425898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3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897427" y="3162895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Boots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897427" y="3653314"/>
            <a:ext cx="3681770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Average rating: 3.82 out of 5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793790" y="4840486"/>
            <a:ext cx="6407944" cy="1677591"/>
          </a:xfrm>
          <a:prstGeom prst="roundRect">
            <a:avLst>
              <a:gd name="adj" fmla="val 8721"/>
            </a:avLst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793790" y="4810006"/>
            <a:ext cx="6407944" cy="121920"/>
          </a:xfrm>
          <a:prstGeom prst="roundRect">
            <a:avLst>
              <a:gd name="adj" fmla="val 78139"/>
            </a:avLst>
          </a:prstGeom>
          <a:solidFill>
            <a:srgbClr val="437066"/>
          </a:solidFill>
          <a:ln/>
        </p:spPr>
      </p:sp>
      <p:sp>
        <p:nvSpPr>
          <p:cNvPr id="23" name="Shape 21"/>
          <p:cNvSpPr/>
          <p:nvPr/>
        </p:nvSpPr>
        <p:spPr>
          <a:xfrm>
            <a:off x="3657540" y="4500324"/>
            <a:ext cx="680442" cy="680442"/>
          </a:xfrm>
          <a:prstGeom prst="roundRect">
            <a:avLst>
              <a:gd name="adj" fmla="val 134383"/>
            </a:avLst>
          </a:prstGeom>
          <a:solidFill>
            <a:srgbClr val="437066"/>
          </a:solidFill>
          <a:ln/>
        </p:spPr>
      </p:sp>
      <p:sp>
        <p:nvSpPr>
          <p:cNvPr id="24" name="Text 22"/>
          <p:cNvSpPr/>
          <p:nvPr/>
        </p:nvSpPr>
        <p:spPr>
          <a:xfrm>
            <a:off x="3861614" y="4670465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4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051084" y="540746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Hat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051084" y="5897880"/>
            <a:ext cx="589335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Average rating: 3.80 out of 5</a:t>
            </a:r>
            <a:endParaRPr lang="en-US" sz="1750" dirty="0"/>
          </a:p>
        </p:txBody>
      </p:sp>
      <p:sp>
        <p:nvSpPr>
          <p:cNvPr id="27" name="Shape 25"/>
          <p:cNvSpPr/>
          <p:nvPr/>
        </p:nvSpPr>
        <p:spPr>
          <a:xfrm>
            <a:off x="7428548" y="4840486"/>
            <a:ext cx="6407944" cy="1677591"/>
          </a:xfrm>
          <a:prstGeom prst="roundRect">
            <a:avLst>
              <a:gd name="adj" fmla="val 8721"/>
            </a:avLst>
          </a:prstGeom>
          <a:solidFill>
            <a:srgbClr val="FFFFFF"/>
          </a:solidFill>
          <a:ln/>
        </p:spPr>
      </p:sp>
      <p:sp>
        <p:nvSpPr>
          <p:cNvPr id="28" name="Shape 26"/>
          <p:cNvSpPr/>
          <p:nvPr/>
        </p:nvSpPr>
        <p:spPr>
          <a:xfrm>
            <a:off x="7428548" y="4810006"/>
            <a:ext cx="6407944" cy="121920"/>
          </a:xfrm>
          <a:prstGeom prst="roundRect">
            <a:avLst>
              <a:gd name="adj" fmla="val 78139"/>
            </a:avLst>
          </a:prstGeom>
          <a:solidFill>
            <a:srgbClr val="437066"/>
          </a:solidFill>
          <a:ln/>
        </p:spPr>
      </p:sp>
      <p:sp>
        <p:nvSpPr>
          <p:cNvPr id="29" name="Shape 27"/>
          <p:cNvSpPr/>
          <p:nvPr/>
        </p:nvSpPr>
        <p:spPr>
          <a:xfrm>
            <a:off x="10292298" y="4500324"/>
            <a:ext cx="680442" cy="680442"/>
          </a:xfrm>
          <a:prstGeom prst="roundRect">
            <a:avLst>
              <a:gd name="adj" fmla="val 134383"/>
            </a:avLst>
          </a:prstGeom>
          <a:solidFill>
            <a:srgbClr val="437066"/>
          </a:solidFill>
          <a:ln/>
        </p:spPr>
      </p:sp>
      <p:sp>
        <p:nvSpPr>
          <p:cNvPr id="30" name="Text 28"/>
          <p:cNvSpPr/>
          <p:nvPr/>
        </p:nvSpPr>
        <p:spPr>
          <a:xfrm>
            <a:off x="10496371" y="4670465"/>
            <a:ext cx="272177" cy="340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4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5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7685842" y="540746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Skirt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685842" y="5897880"/>
            <a:ext cx="5893356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Average rating: 3.78 out of 5</a:t>
            </a:r>
            <a:endParaRPr lang="en-US" sz="1750" dirty="0"/>
          </a:p>
        </p:txBody>
      </p:sp>
      <p:sp>
        <p:nvSpPr>
          <p:cNvPr id="33" name="Text 31"/>
          <p:cNvSpPr/>
          <p:nvPr/>
        </p:nvSpPr>
        <p:spPr>
          <a:xfrm>
            <a:off x="793790" y="6773228"/>
            <a:ext cx="130428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Customer satisfaction is highest in footwear and accessories categories, demonstrating strong product appeal.</a:t>
            </a:r>
            <a:endParaRPr lang="en-US" sz="17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A942635-F15A-E42D-89EF-DF180C272EBB}"/>
              </a:ext>
            </a:extLst>
          </p:cNvPr>
          <p:cNvSpPr/>
          <p:nvPr/>
        </p:nvSpPr>
        <p:spPr>
          <a:xfrm>
            <a:off x="12667785" y="7571678"/>
            <a:ext cx="1873405" cy="5687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8784" y="589002"/>
            <a:ext cx="7666315" cy="668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250"/>
              </a:lnSpc>
              <a:buNone/>
            </a:pPr>
            <a:r>
              <a:rPr lang="en-US" sz="42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Customer Segmentation Insights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1532573" y="2969062"/>
            <a:ext cx="2631519" cy="5348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200"/>
              </a:lnSpc>
              <a:buNone/>
            </a:pPr>
            <a:r>
              <a:rPr lang="en-US" sz="4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80%</a:t>
            </a:r>
            <a:endParaRPr lang="en-US" sz="4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3846" y="1631871"/>
            <a:ext cx="3209211" cy="320921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11260" y="5108377"/>
            <a:ext cx="2674382" cy="3342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1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Loyal Customers</a:t>
            </a:r>
            <a:endParaRPr lang="en-US" sz="2100" dirty="0"/>
          </a:p>
        </p:txBody>
      </p:sp>
      <p:sp>
        <p:nvSpPr>
          <p:cNvPr id="6" name="Text 3"/>
          <p:cNvSpPr/>
          <p:nvPr/>
        </p:nvSpPr>
        <p:spPr>
          <a:xfrm>
            <a:off x="748784" y="5570934"/>
            <a:ext cx="4199334" cy="342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16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3,116 customers with 10+ purchases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5999321" y="2969062"/>
            <a:ext cx="2631519" cy="5348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200"/>
              </a:lnSpc>
              <a:buNone/>
            </a:pPr>
            <a:r>
              <a:rPr lang="en-US" sz="4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18%</a:t>
            </a:r>
            <a:endParaRPr lang="en-US" sz="42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0595" y="1631871"/>
            <a:ext cx="3209211" cy="320921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78009" y="5108377"/>
            <a:ext cx="2674382" cy="3342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1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Returning</a:t>
            </a:r>
            <a:endParaRPr lang="en-US" sz="2100" dirty="0"/>
          </a:p>
        </p:txBody>
      </p:sp>
      <p:sp>
        <p:nvSpPr>
          <p:cNvPr id="10" name="Text 6"/>
          <p:cNvSpPr/>
          <p:nvPr/>
        </p:nvSpPr>
        <p:spPr>
          <a:xfrm>
            <a:off x="5215533" y="5570934"/>
            <a:ext cx="4199334" cy="342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16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701 customers with 2-10 purchases</a:t>
            </a:r>
            <a:endParaRPr lang="en-US" sz="1650" dirty="0"/>
          </a:p>
        </p:txBody>
      </p:sp>
      <p:sp>
        <p:nvSpPr>
          <p:cNvPr id="11" name="Text 7"/>
          <p:cNvSpPr/>
          <p:nvPr/>
        </p:nvSpPr>
        <p:spPr>
          <a:xfrm>
            <a:off x="10466070" y="2969062"/>
            <a:ext cx="2631519" cy="53482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200"/>
              </a:lnSpc>
              <a:buNone/>
            </a:pPr>
            <a:r>
              <a:rPr lang="en-US" sz="4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2%</a:t>
            </a:r>
            <a:endParaRPr lang="en-US" sz="42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77343" y="1631871"/>
            <a:ext cx="3209211" cy="3209211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444758" y="5108377"/>
            <a:ext cx="2674382" cy="3342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21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New Customers</a:t>
            </a:r>
            <a:endParaRPr lang="en-US" sz="2100" dirty="0"/>
          </a:p>
        </p:txBody>
      </p:sp>
      <p:sp>
        <p:nvSpPr>
          <p:cNvPr id="14" name="Text 9"/>
          <p:cNvSpPr/>
          <p:nvPr/>
        </p:nvSpPr>
        <p:spPr>
          <a:xfrm>
            <a:off x="9682282" y="5570934"/>
            <a:ext cx="4199334" cy="342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16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83 customers with 1 purchase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748784" y="6234113"/>
            <a:ext cx="3581638" cy="4010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25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Strong Retention Success</a:t>
            </a:r>
            <a:endParaRPr lang="en-US" sz="2500" dirty="0"/>
          </a:p>
        </p:txBody>
      </p:sp>
      <p:sp>
        <p:nvSpPr>
          <p:cNvPr id="16" name="Text 11"/>
          <p:cNvSpPr/>
          <p:nvPr/>
        </p:nvSpPr>
        <p:spPr>
          <a:xfrm>
            <a:off x="748784" y="6955988"/>
            <a:ext cx="13132832" cy="684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50"/>
              </a:lnSpc>
              <a:buNone/>
            </a:pPr>
            <a:r>
              <a:rPr lang="en-US" sz="16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The large proportion of loyal customers indicates excellent retention and positive customer experience. Focus should shift to converting returning customers into loyal advocates.</a:t>
            </a:r>
            <a:endParaRPr lang="en-US" sz="165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6148CBD-94C9-6B37-4863-7ABBB08DBBE3}"/>
              </a:ext>
            </a:extLst>
          </p:cNvPr>
          <p:cNvSpPr/>
          <p:nvPr/>
        </p:nvSpPr>
        <p:spPr>
          <a:xfrm>
            <a:off x="12667785" y="7571678"/>
            <a:ext cx="1873405" cy="5687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7829" y="736283"/>
            <a:ext cx="6955393" cy="6498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100"/>
              </a:lnSpc>
              <a:buNone/>
            </a:pPr>
            <a:r>
              <a:rPr lang="en-US" sz="40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Subscription Performance Gap</a:t>
            </a:r>
            <a:endParaRPr lang="en-US" sz="4050" dirty="0"/>
          </a:p>
        </p:txBody>
      </p:sp>
      <p:sp>
        <p:nvSpPr>
          <p:cNvPr id="3" name="Shape 1"/>
          <p:cNvSpPr/>
          <p:nvPr/>
        </p:nvSpPr>
        <p:spPr>
          <a:xfrm>
            <a:off x="727829" y="3922514"/>
            <a:ext cx="13174742" cy="22860"/>
          </a:xfrm>
          <a:prstGeom prst="roundRect">
            <a:avLst>
              <a:gd name="adj" fmla="val 382074"/>
            </a:avLst>
          </a:prstGeom>
          <a:solidFill>
            <a:srgbClr val="C5D2CF"/>
          </a:solidFill>
          <a:ln/>
        </p:spPr>
      </p:sp>
      <p:sp>
        <p:nvSpPr>
          <p:cNvPr id="4" name="Shape 2"/>
          <p:cNvSpPr/>
          <p:nvPr/>
        </p:nvSpPr>
        <p:spPr>
          <a:xfrm>
            <a:off x="727829" y="1802011"/>
            <a:ext cx="6457355" cy="2120503"/>
          </a:xfrm>
          <a:prstGeom prst="roundRect">
            <a:avLst>
              <a:gd name="adj" fmla="val 4119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56761" y="2017514"/>
            <a:ext cx="2599372" cy="324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0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Subscribed Customers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43332" y="2466975"/>
            <a:ext cx="6026348" cy="332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Average spend: </a:t>
            </a:r>
            <a:r>
              <a:rPr lang="en-US" sz="16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$59.49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43332" y="2924413"/>
            <a:ext cx="6026348" cy="332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Total revenue: </a:t>
            </a:r>
            <a:r>
              <a:rPr lang="en-US" sz="16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$62,645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43332" y="3381851"/>
            <a:ext cx="6026348" cy="332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Among repeat buyers (5+ purchases): </a:t>
            </a:r>
            <a:r>
              <a:rPr lang="en-US" sz="16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958 subscribed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445097" y="3945374"/>
            <a:ext cx="6457474" cy="2120503"/>
          </a:xfrm>
          <a:prstGeom prst="rect">
            <a:avLst/>
          </a:prstGeom>
          <a:solidFill>
            <a:srgbClr val="DFECE9"/>
          </a:solidFill>
          <a:ln/>
        </p:spPr>
      </p:sp>
      <p:sp>
        <p:nvSpPr>
          <p:cNvPr id="10" name="Text 8"/>
          <p:cNvSpPr/>
          <p:nvPr/>
        </p:nvSpPr>
        <p:spPr>
          <a:xfrm>
            <a:off x="9248061" y="4153257"/>
            <a:ext cx="2851547" cy="3248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550"/>
              </a:lnSpc>
              <a:buNone/>
            </a:pPr>
            <a:r>
              <a:rPr lang="en-US" sz="20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Unsubscribed Customers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60600" y="4602718"/>
            <a:ext cx="6026468" cy="332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Average spend: </a:t>
            </a:r>
            <a:r>
              <a:rPr lang="en-US" sz="16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$59.87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660600" y="5060156"/>
            <a:ext cx="6026468" cy="332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Total revenue: </a:t>
            </a:r>
            <a:r>
              <a:rPr lang="en-US" sz="16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$170,436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660600" y="5517594"/>
            <a:ext cx="6026468" cy="332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00"/>
              </a:lnSpc>
              <a:buNone/>
            </a:pPr>
            <a:r>
              <a:rPr lang="en-US" sz="16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Among repeat buyers (5+ purchases): </a:t>
            </a:r>
            <a:r>
              <a:rPr lang="en-US" sz="1600" b="1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2,518 unsubscribed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27829" y="6276856"/>
            <a:ext cx="13174742" cy="1216343"/>
          </a:xfrm>
          <a:prstGeom prst="roundRect">
            <a:avLst>
              <a:gd name="adj" fmla="val 7181"/>
            </a:avLst>
          </a:prstGeom>
          <a:solidFill>
            <a:srgbClr val="CFE2DE"/>
          </a:solidFill>
          <a:ln/>
        </p:spPr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712" y="6568083"/>
            <a:ext cx="259913" cy="207883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403509" y="6536650"/>
            <a:ext cx="12291179" cy="665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1600" b="1" dirty="0">
                <a:solidFill>
                  <a:srgbClr val="000000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Critical Finding:</a:t>
            </a:r>
            <a:r>
              <a:rPr lang="en-US" sz="1600" dirty="0">
                <a:solidFill>
                  <a:srgbClr val="000000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 Unsubscribed customers spend more and generate higher total sales. The subscription program is not effectively influencing spending behavior and needs enhancement.</a:t>
            </a:r>
            <a:endParaRPr lang="en-US" sz="1600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817103F-55A3-0197-C56A-6F80FEC9176A}"/>
              </a:ext>
            </a:extLst>
          </p:cNvPr>
          <p:cNvSpPr/>
          <p:nvPr/>
        </p:nvSpPr>
        <p:spPr>
          <a:xfrm>
            <a:off x="12667785" y="7571678"/>
            <a:ext cx="1873405" cy="5687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2450" y="434102"/>
            <a:ext cx="3946922" cy="4932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850"/>
              </a:lnSpc>
              <a:buNone/>
            </a:pPr>
            <a:r>
              <a:rPr lang="en-US" sz="310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Revenue by Age Group</a:t>
            </a:r>
            <a:endParaRPr lang="en-US" sz="31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" y="1243013"/>
            <a:ext cx="10420350" cy="58353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52450" y="7549898"/>
            <a:ext cx="13525500" cy="252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2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Young adults are the largest revenue contributors at $62,143, forming the core customer base and primary driver of sales performance.</a:t>
            </a:r>
            <a:endParaRPr lang="en-US" sz="12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C61BE6-9A43-E8D1-E0E1-DAAFB519BD2A}"/>
              </a:ext>
            </a:extLst>
          </p:cNvPr>
          <p:cNvSpPr/>
          <p:nvPr/>
        </p:nvSpPr>
        <p:spPr>
          <a:xfrm>
            <a:off x="10058400" y="6844007"/>
            <a:ext cx="1828800" cy="550037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31728C-DEC9-316B-769D-C96FD04FDA8A}"/>
              </a:ext>
            </a:extLst>
          </p:cNvPr>
          <p:cNvSpPr txBox="1"/>
          <p:nvPr/>
        </p:nvSpPr>
        <p:spPr>
          <a:xfrm>
            <a:off x="10298151" y="6787004"/>
            <a:ext cx="13492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B6B4AE"/>
                </a:solidFill>
              </a:rPr>
              <a:t> </a:t>
            </a:r>
            <a:r>
              <a:rPr lang="en-US" dirty="0">
                <a:solidFill>
                  <a:srgbClr val="5B5B56"/>
                </a:solidFill>
              </a:rPr>
              <a:t>$75,000.00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51897F-16D9-8B2D-D5C3-B197134C3B74}"/>
              </a:ext>
            </a:extLst>
          </p:cNvPr>
          <p:cNvSpPr/>
          <p:nvPr/>
        </p:nvSpPr>
        <p:spPr>
          <a:xfrm>
            <a:off x="12667785" y="7571678"/>
            <a:ext cx="1873405" cy="5687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2052280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Dashboard Highlights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3101221"/>
            <a:ext cx="4196358" cy="680442"/>
          </a:xfrm>
          <a:prstGeom prst="roundRect">
            <a:avLst>
              <a:gd name="adj" fmla="val 480029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21888" y="3271242"/>
            <a:ext cx="340162" cy="3401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20604" y="400847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Customer Base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020604" y="4498896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4,000 customers with $59.76 average purchase value and 3.75 review rating</a:t>
            </a:r>
            <a:endParaRPr lang="en-US" sz="1750" dirty="0"/>
          </a:p>
        </p:txBody>
      </p:sp>
      <p:sp>
        <p:nvSpPr>
          <p:cNvPr id="7" name="Shape 4"/>
          <p:cNvSpPr/>
          <p:nvPr/>
        </p:nvSpPr>
        <p:spPr>
          <a:xfrm>
            <a:off x="5216962" y="3101221"/>
            <a:ext cx="4196358" cy="680442"/>
          </a:xfrm>
          <a:prstGeom prst="roundRect">
            <a:avLst>
              <a:gd name="adj" fmla="val 480029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145060" y="3271242"/>
            <a:ext cx="340162" cy="34016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43776" y="400847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Category Leadership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5443776" y="4498896"/>
            <a:ext cx="374273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Clothing leads in both customer engagement and revenue, followed by accessories and footwear</a:t>
            </a:r>
            <a:endParaRPr lang="en-US" sz="1750" dirty="0"/>
          </a:p>
        </p:txBody>
      </p:sp>
      <p:sp>
        <p:nvSpPr>
          <p:cNvPr id="11" name="Shape 7"/>
          <p:cNvSpPr/>
          <p:nvPr/>
        </p:nvSpPr>
        <p:spPr>
          <a:xfrm>
            <a:off x="9640133" y="3101221"/>
            <a:ext cx="4196358" cy="680442"/>
          </a:xfrm>
          <a:prstGeom prst="roundRect">
            <a:avLst>
              <a:gd name="adj" fmla="val 480029"/>
            </a:avLst>
          </a:prstGeom>
          <a:solidFill>
            <a:srgbClr val="DFECE9"/>
          </a:solidFill>
          <a:ln w="7620">
            <a:solidFill>
              <a:srgbClr val="C5D2CF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568232" y="3271242"/>
            <a:ext cx="340162" cy="34016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866948" y="4008477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Untapped Potential</a:t>
            </a:r>
            <a:endParaRPr lang="en-US" sz="2200" dirty="0"/>
          </a:p>
        </p:txBody>
      </p:sp>
      <p:sp>
        <p:nvSpPr>
          <p:cNvPr id="14" name="Text 9"/>
          <p:cNvSpPr/>
          <p:nvPr/>
        </p:nvSpPr>
        <p:spPr>
          <a:xfrm>
            <a:off x="9866948" y="4498896"/>
            <a:ext cx="374273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Most customers not subscribed or using discounts—significant opportunity for loyalty strategies</a:t>
            </a:r>
            <a:endParaRPr lang="en-US" sz="175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74C22A1-3CC9-EEC9-EAC7-455F23EEC6C0}"/>
              </a:ext>
            </a:extLst>
          </p:cNvPr>
          <p:cNvSpPr/>
          <p:nvPr/>
        </p:nvSpPr>
        <p:spPr>
          <a:xfrm>
            <a:off x="12667785" y="7571678"/>
            <a:ext cx="1873405" cy="5687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Add-in" descr="Add-in content for Microsoft Power BI."/>
              <p:cNvGraphicFramePr>
                <a:graphicFrameLocks noGrp="1"/>
              </p:cNvGraphicFramePr>
              <p:nvPr/>
            </p:nvGraphicFramePr>
            <p:xfrm>
              <a:off x="0" y="1"/>
              <a:ext cx="14630400" cy="8229599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2"/>
              </a:graphicData>
            </a:graphic>
          </p:graphicFrame>
        </mc:Choice>
        <mc:Fallback>
          <p:pic>
            <p:nvPicPr>
              <p:cNvPr id="2" name="Add-in" descr="Add-in content for Microsoft Power BI."/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0" y="1"/>
                <a:ext cx="14630400" cy="8229599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118595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6633" y="539472"/>
            <a:ext cx="6059210" cy="6131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38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Strategic Recommendations</a:t>
            </a:r>
            <a:endParaRPr lang="en-US" sz="38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6633" y="1544955"/>
            <a:ext cx="490418" cy="49041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86633" y="2280523"/>
            <a:ext cx="2452330" cy="3065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Target Young Adults</a:t>
            </a:r>
            <a:endParaRPr lang="en-US" sz="1900" dirty="0"/>
          </a:p>
        </p:txBody>
      </p:sp>
      <p:sp>
        <p:nvSpPr>
          <p:cNvPr id="5" name="Text 2"/>
          <p:cNvSpPr/>
          <p:nvPr/>
        </p:nvSpPr>
        <p:spPr>
          <a:xfrm>
            <a:off x="686633" y="2704743"/>
            <a:ext cx="6505932" cy="627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5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Focus marketing on young adults using social media and influencer channels to maximize revenue impact</a:t>
            </a:r>
            <a:endParaRPr lang="en-US" sz="15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437715" y="1544955"/>
            <a:ext cx="490418" cy="49041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437715" y="2280523"/>
            <a:ext cx="3079909" cy="3065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Revise Subscription Strategy</a:t>
            </a:r>
            <a:endParaRPr lang="en-US" sz="1900" dirty="0"/>
          </a:p>
        </p:txBody>
      </p:sp>
      <p:sp>
        <p:nvSpPr>
          <p:cNvPr id="8" name="Text 4"/>
          <p:cNvSpPr/>
          <p:nvPr/>
        </p:nvSpPr>
        <p:spPr>
          <a:xfrm>
            <a:off x="7437715" y="2704743"/>
            <a:ext cx="6506051" cy="627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5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Add compelling perks to boost subscription sign-ups and spending among repeat buyers</a:t>
            </a:r>
            <a:endParaRPr lang="en-US" sz="15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6633" y="3724751"/>
            <a:ext cx="490418" cy="49041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86633" y="4460319"/>
            <a:ext cx="2517934" cy="3065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Expand Discount Offers</a:t>
            </a:r>
            <a:endParaRPr lang="en-US" sz="1900" dirty="0"/>
          </a:p>
        </p:txBody>
      </p:sp>
      <p:sp>
        <p:nvSpPr>
          <p:cNvPr id="11" name="Text 6"/>
          <p:cNvSpPr/>
          <p:nvPr/>
        </p:nvSpPr>
        <p:spPr>
          <a:xfrm>
            <a:off x="686633" y="4884539"/>
            <a:ext cx="6505932" cy="627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5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Offer strategic discounts and bundle deals on popular apparel items like hats and sneakers</a:t>
            </a:r>
            <a:endParaRPr lang="en-US" sz="15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437715" y="3724751"/>
            <a:ext cx="490418" cy="49041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7437715" y="4460319"/>
            <a:ext cx="2452330" cy="3065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Enhance Top Products</a:t>
            </a:r>
            <a:endParaRPr lang="en-US" sz="1900" dirty="0"/>
          </a:p>
        </p:txBody>
      </p:sp>
      <p:sp>
        <p:nvSpPr>
          <p:cNvPr id="14" name="Text 8"/>
          <p:cNvSpPr/>
          <p:nvPr/>
        </p:nvSpPr>
        <p:spPr>
          <a:xfrm>
            <a:off x="7437715" y="4884539"/>
            <a:ext cx="6506051" cy="627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5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Prioritize inventory investment in highly rated items like gloves, sandals, and boots</a:t>
            </a:r>
            <a:endParaRPr lang="en-US" sz="15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86633" y="5904548"/>
            <a:ext cx="490418" cy="49041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86633" y="6640116"/>
            <a:ext cx="2661642" cy="3065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Nurture Loyal Customers</a:t>
            </a:r>
            <a:endParaRPr lang="en-US" sz="1900" dirty="0"/>
          </a:p>
        </p:txBody>
      </p:sp>
      <p:sp>
        <p:nvSpPr>
          <p:cNvPr id="17" name="Text 10"/>
          <p:cNvSpPr/>
          <p:nvPr/>
        </p:nvSpPr>
        <p:spPr>
          <a:xfrm>
            <a:off x="686633" y="7064335"/>
            <a:ext cx="6505932" cy="627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5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Reward 3,116 loyal customers with personalized programs to maintain retention excellence</a:t>
            </a:r>
            <a:endParaRPr lang="en-US" sz="1500" dirty="0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437715" y="5904548"/>
            <a:ext cx="490418" cy="49041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7437715" y="6640116"/>
            <a:ext cx="2452330" cy="3065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900" dirty="0">
                <a:solidFill>
                  <a:srgbClr val="2C3249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Regional Marketing</a:t>
            </a:r>
            <a:endParaRPr lang="en-US" sz="1900" dirty="0"/>
          </a:p>
        </p:txBody>
      </p:sp>
      <p:sp>
        <p:nvSpPr>
          <p:cNvPr id="20" name="Text 12"/>
          <p:cNvSpPr/>
          <p:nvPr/>
        </p:nvSpPr>
        <p:spPr>
          <a:xfrm>
            <a:off x="7437715" y="7064335"/>
            <a:ext cx="6506051" cy="627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50"/>
              </a:lnSpc>
              <a:buNone/>
            </a:pPr>
            <a:r>
              <a:rPr lang="en-US" sz="150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Deploy localized campaigns in high-density customer areas for targeted outreach</a:t>
            </a:r>
            <a:endParaRPr lang="en-US" sz="1500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06329F6-8649-6CC3-258A-C74133D6803E}"/>
              </a:ext>
            </a:extLst>
          </p:cNvPr>
          <p:cNvSpPr/>
          <p:nvPr/>
        </p:nvSpPr>
        <p:spPr>
          <a:xfrm>
            <a:off x="12667785" y="7571678"/>
            <a:ext cx="1873405" cy="5687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283523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4282083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dirty="0">
                <a:solidFill>
                  <a:srgbClr val="272D45"/>
                </a:solidFill>
                <a:latin typeface="Kanit Light" pitchFamily="34" charset="0"/>
                <a:ea typeface="Kanit Light" pitchFamily="34" charset="-122"/>
                <a:cs typeface="Kanit Light" pitchFamily="34" charset="-120"/>
              </a:rPr>
              <a:t>Conclusion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5331023"/>
            <a:ext cx="13042821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2C3249"/>
                </a:solidFill>
                <a:latin typeface="Martel Sans" pitchFamily="34" charset="0"/>
                <a:ea typeface="Martel Sans" pitchFamily="34" charset="-122"/>
                <a:cs typeface="Martel Sans" pitchFamily="34" charset="-120"/>
              </a:rPr>
              <a:t>In conclusion, these insights offer a strategic framework for driving sustainable growth in the retail sector. By leveraging targeted marketing strategies, enhancing customer retention initiatives, and implementing effective product management practices, businesses can establish a competitive advantage and achieve long-term success in a dynamic retail market.</a:t>
            </a:r>
            <a:endParaRPr lang="en-US" sz="175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EF5F89F-4CF9-FDD0-52AC-4AE785CD17B1}"/>
              </a:ext>
            </a:extLst>
          </p:cNvPr>
          <p:cNvSpPr/>
          <p:nvPr/>
        </p:nvSpPr>
        <p:spPr>
          <a:xfrm>
            <a:off x="12667785" y="7571678"/>
            <a:ext cx="1873405" cy="5687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webextension1.xml><?xml version="1.0" encoding="utf-8"?>
<we:webextension xmlns:we="http://schemas.microsoft.com/office/webextensions/webextension/2010/11" id="{b3a64ce1-ac76-4f34-a0e0-7919df858988}">
  <we:reference id="WA200003233" version="2.0.0.3" store="en-US" storeType="OMEX"/>
  <we:alternateReferences/>
  <we:properties>
    <we:property name="Microsoft.Office.CampaignId" value="&quot;none&quot;"/>
    <we:property name="artifactViewState" value="&quot;live&quot;"/>
    <we:property name="backgroundColor" value="&quot;#FFFFFF&quot;"/>
    <we:property name="bookmark" value="&quot;H4sIAAAAAAAAA+1YUW/bOAz+K4Ff9hIcbEuW7b61ud3TbVe0h70MRUBLlOPNsQxJ7toV+e8ny8m1aYMGlxsaB+hTYJKhSH4fJUoPgahMW8P9Z1hicBZcKPV9Cfr7JAqmQTPIaMYxQyLzIkt4BjGlCXFa1dpKNSY4ewgs6BLtl8p0UPeOnPDrzTSAur6Esv+SUBucBi1qoxqoq584GDuV1R2upgHetbXS0Lu8tmCxd3vrzN23CyH6rV8RuK1u8Rq5HaQ8TmOSpTKCjOVMsjjjuTMzg4GPbKdJ79ovP1ONhapxy/Qy6hLjMQlFKGRUEMIYz3q5rGq7NinuP9612mXncr5v++Kci1toOIrAp6DRDBE/BJ8QTKd9Hh+3FNeq0xyvUHpVYyt73+fSGauWqOcFLuC2UnqykZhg5epzqZWrnjc9d3VxZZ1cOj8LMDg5X6qusd5soX7MNLr6ieAsXE3HEOYV3lb4Y3LlsG3KsQX5uVsWqCd/yclsy2Q7xBsnMS76ek3bRwb9PUTOQYu1yjVG8c0xsOeL+5vSAvXFvafM75XecDeePsvkrVN0OfVdxyDmPM5JnCcUolRSxg+n/HlZaizBrj+385ipulvukP/v/P41rYRX/dE16yInr5Ft5kSl0hX3mOHbxGq6wnBd+Z1zbtw+1x1EN6Gazs4WoO2hdBshVKubzQ7v/vHtyR6+RmpI6o2hcV3izKIixzAXAljGSCI451LubZOjEIxvanXQPnscVrTrc2wOj+fYIzPCA/qjAH2C3bG3DkfukCfcGtoCshBjFiFJmaQxC1MRFe9tcZRzbf+EUjt3qFFcnGRvjPnkeNEXeRRmlKciS4ooYYRhGI/0uPhF84ipK456i1GBW67046wACz7Rdli3wkGvhFejr8ND8GflajP4/gJ117v9cAGm4h/6aXU9r+5E2Zub400HMhJucmaYJUmaR6mAPIJxwl1i45r8HeFXazOAWqQRFFnIeUgBGS1oRnGcoL5ytr3D+nJzllQWWUKLnBGSUCZSksXjBNYsqrZ16M19EGNFt39vqzfTwgt3xrqi2Wsf5bW32+PcvxSOgTjPq78eeQlP+g0BJUlDQorQ7QzjZA+UOC+16tpTmnnfr4KncRV8Sq6hMWiaAheExkno7oNxLiKR7G2MkbHvlF4SRWV4T405tG1doXh/RhzHZXAHLkODJKxIkIXStQjNWJ4WRTbSx5Ja8QHREzo4fu1jCfzsNH6C9nlbHJFXT0BZX1CAESBJLLNcipD2T9LET1yvToQLcL9bWfkHCzcJxzROsyTKE+RU8oGbh/gCSHKgQqZMcEYEk7mke31ZvLOFunvuzTvcNbyqzpoWOF5CgzumTsdIcLc58Z9mzdXqH90U1ZkNHwAA&quot;"/>
    <we:property name="creatorSessionId" value="&quot;54d1272d-e604-4c85-b955-cae5b9aeb46b&quot;"/>
    <we:property name="creatorTenantId" value="&quot;74d7edcc-0d59-4bda-8fee-a79396508ff5&quot;"/>
    <we:property name="creatorUserId" value="&quot;100320053A919937&quot;"/>
    <we:property name="datasetId" value="&quot;6269064e-a375-467c-a6aa-ff2b81a080fa&quot;"/>
    <we:property name="embedUrl" value="&quot;/reportEmbed?reportId=b67eb7ae-fdf8-4536-a744-53aaf6714c62&amp;config=eyJjbHVzdGVyVXJsIjoiaHR0cHM6Ly9XQUJJLUlORElBLUNFTlRSQUwtQS1QUklNQVJZLXJlZGlyZWN0LmFuYWx5c2lzLndpbmRvd3MubmV0IiwiZW1iZWRGZWF0dXJlcyI6eyJ1c2FnZU1ldHJpY3NWTmV4dCI6dHJ1ZX19&amp;disableSensitivityBanner=true&amp;storytellingChangeViewModeShortcutKeys=true&quot;"/>
    <we:property name="initialStateBookmark" value="&quot;H4sIAAAAAAAAA+1ZS2/bOBD+K4YuvRgLPShKys3xZi/dPJAseikCY0QOZbayKFBUmjTwf1+Ksps4MeKFt4hlIKdAw/FwHt8MPzKPHpdNXcLDBSzQO/FOlfq+AP19FHhjr1rJLi8/n0+uP88uJudnVqxqI1XVeCePngFdoPkimxbKzoIVfr0de1CWV1B0XwLKBsdejbpRFZTyJ/bKdsnoFpdjD+/rUmnoTN4YMNiZvbPq9tvuHfwR2R2BGXmHN8hML2VhEkZpIgJIaUYFDVOWWbWmV3CebVXpTLvtp6oyICu7TScjhMQsjHzucxHkUUQpSzu5kKVZqeQPZ/e1ttHZmB/qLisTfgcVQ+65EDQ2vceP3jlC02oXx9nGwo1qNcNrFG6pMtI8dLG0jVEL1LMc53AnlR6tJY23tPm50spmz6lObF5sWkdX1s4cGhxNFqqtjFObqx9TjTZ/3Dvxl+MhuHmNdxJ/jK5tbatiaE5etIsc9ehSjKYbKpsu3lpJY70vV7B9QtA/vecMNF8t2cbIv1kEdnixP1Oaoz59cJD5U+o1dsPxi0jeO0QbU9d1FELGwiwKs5hAkAhC2f6QnxSFxgLM6nMzjqkq28UW+f+O75eq5G7pr7ZaJTl+C2xTKyqUlszVDN/H16bNG6alm5yzxs65di+4cVW1ZjoHbfaF2wBLtbxdT3j7i2/PZviqUn1Q71wa2yVWLcgz9DPOgaY0ijljTIidbXIQgLF1rvaas4dBRb06x2bwdI49IcPfoz9y0EfYHTvzcOAOeYatvi0g9TGkAUYJFSSkfsKD/KMtDnKu7WYopTWHGvnpUfbGkE+OV32RBX5KWMLTOA9iGlH0w4EeF7+JjzSlZKg3EOXZ7QpHZzkYcIHW/b4S+3XF3TK6PDx6f0ubm972FyjbzuynU2gk+9Sx1RVf3Vplp94cjh2IgFvmTDGN4yQLEg5ZAMMsd4GVbfKPCr+Zm76oeRJAnvqM+QSQkpykBIdZ1DfOto+yvh7Ogog8jUme0SiKCeVJlIbDLGwzl3VtqzdzTgy1ut17W7lmC6/MNcYmzdw4L2+c3g7j7qVwCMB5mf0V5Y1Y3A0EFFHiR1Hu28kwTPRAgbNCq7Y+Js77cRU8jqvgc3D1jUGSBBiPSBj79j4YZjzg8c7GGBj6juklkcuGddCYQV2XEvnHM+IwLoNb6tI3SEzzGKkvbIuQlGZJnqcDfSwpFesrekQHx+99LIGfrcZzqF+2xQFx9awoqwsK0AiiOBRpJrhPuifpyDGuNxnhHOzfjajcg4VlwiEJkzQOshgZEazH5j62AOIMCBcJ5YxGnIpMkJ22DN6bXN2/tOYMbiOvqjVNDQyvoMItrNMiEuxtjv9XrjnuvJF5uYv5dv+r/sVNl8t/Aakk/l82HwAA&quot;"/>
    <we:property name="isFiltersActionButtonVisible" value="true"/>
    <we:property name="isFooterCollapsed" value="true"/>
    <we:property name="isVisualContainerHeaderHidden" value="false"/>
    <we:property name="pageDisplayName" value="&quot;Page 1&quot;"/>
    <we:property name="pageName" value="&quot;c272387f1a8696f628c9&quot;"/>
    <we:property name="reportEmbeddedTime" value="&quot;2025-11-11T16:52:07.496Z&quot;"/>
    <we:property name="reportName" value="&quot;customer_analysis&quot;"/>
    <we:property name="reportState" value="&quot;CONNECTED&quot;"/>
    <we:property name="reportUrl" value="&quot;/groups/me/reports/b67eb7ae-fdf8-4536-a744-53aaf6714c62/c272387f1a8696f628c9?bookmarkGuid=f97acb72-9d18-4aca-91b0-e159a295688c&amp;bookmarkUsage=1&amp;ctid=74d7edcc-0d59-4bda-8fee-a79396508ff5&amp;fromEntryPoint=export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592</Words>
  <Application>Microsoft Office PowerPoint</Application>
  <PresentationFormat>Custom</PresentationFormat>
  <Paragraphs>109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Kanit Light</vt:lpstr>
      <vt:lpstr>Martel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Yuvraj Singh</cp:lastModifiedBy>
  <cp:revision>5</cp:revision>
  <dcterms:created xsi:type="dcterms:W3CDTF">2025-11-11T16:43:50Z</dcterms:created>
  <dcterms:modified xsi:type="dcterms:W3CDTF">2025-11-11T17:04:44Z</dcterms:modified>
</cp:coreProperties>
</file>